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83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bhi Nayar" userId="5ad7f917-e5cd-447b-b5bd-e6651e7de3fe" providerId="ADAL" clId="{F6EF6FF7-ADF2-4C1B-B2D6-2E1C52858D79}"/>
    <pc:docChg chg="mod modSld modMainMaster">
      <pc:chgData name="Surbhi Nayar" userId="5ad7f917-e5cd-447b-b5bd-e6651e7de3fe" providerId="ADAL" clId="{F6EF6FF7-ADF2-4C1B-B2D6-2E1C52858D79}" dt="2026-10-15T10:46:19.108" v="8" actId="207"/>
      <pc:docMkLst>
        <pc:docMk/>
      </pc:docMkLst>
      <pc:sldChg chg="modSp mod">
        <pc:chgData name="Surbhi Nayar" userId="5ad7f917-e5cd-447b-b5bd-e6651e7de3fe" providerId="ADAL" clId="{F6EF6FF7-ADF2-4C1B-B2D6-2E1C52858D79}" dt="2026-10-15T10:45:36.741" v="2" actId="207"/>
        <pc:sldMkLst>
          <pc:docMk/>
          <pc:sldMk cId="0" sldId="256"/>
        </pc:sldMkLst>
        <pc:spChg chg="mod">
          <ac:chgData name="Surbhi Nayar" userId="5ad7f917-e5cd-447b-b5bd-e6651e7de3fe" providerId="ADAL" clId="{F6EF6FF7-ADF2-4C1B-B2D6-2E1C52858D79}" dt="2026-10-15T10:45:36.741" v="2" actId="207"/>
          <ac:spMkLst>
            <pc:docMk/>
            <pc:sldMk cId="0" sldId="256"/>
            <ac:spMk id="3" creationId="{00000000-0000-0000-0000-000000000000}"/>
          </ac:spMkLst>
        </pc:spChg>
        <pc:spChg chg="mod">
          <ac:chgData name="Surbhi Nayar" userId="5ad7f917-e5cd-447b-b5bd-e6651e7de3fe" providerId="ADAL" clId="{F6EF6FF7-ADF2-4C1B-B2D6-2E1C52858D79}" dt="2026-10-15T10:45:33.405" v="1" actId="207"/>
          <ac:spMkLst>
            <pc:docMk/>
            <pc:sldMk cId="0" sldId="256"/>
            <ac:spMk id="6" creationId="{00000000-0000-0000-0000-000000000000}"/>
          </ac:spMkLst>
        </pc:spChg>
        <pc:spChg chg="mod">
          <ac:chgData name="Surbhi Nayar" userId="5ad7f917-e5cd-447b-b5bd-e6651e7de3fe" providerId="ADAL" clId="{F6EF6FF7-ADF2-4C1B-B2D6-2E1C52858D79}" dt="2026-10-15T10:45:33.405" v="1" actId="207"/>
          <ac:spMkLst>
            <pc:docMk/>
            <pc:sldMk cId="0" sldId="256"/>
            <ac:spMk id="9" creationId="{00000000-0000-0000-0000-000000000000}"/>
          </ac:spMkLst>
        </pc:spChg>
        <pc:spChg chg="mod">
          <ac:chgData name="Surbhi Nayar" userId="5ad7f917-e5cd-447b-b5bd-e6651e7de3fe" providerId="ADAL" clId="{F6EF6FF7-ADF2-4C1B-B2D6-2E1C52858D79}" dt="2026-10-15T10:45:33.405" v="1" actId="207"/>
          <ac:spMkLst>
            <pc:docMk/>
            <pc:sldMk cId="0" sldId="256"/>
            <ac:spMk id="12" creationId="{00000000-0000-0000-0000-000000000000}"/>
          </ac:spMkLst>
        </pc:spChg>
        <pc:spChg chg="mod">
          <ac:chgData name="Surbhi Nayar" userId="5ad7f917-e5cd-447b-b5bd-e6651e7de3fe" providerId="ADAL" clId="{F6EF6FF7-ADF2-4C1B-B2D6-2E1C52858D79}" dt="2026-10-15T10:45:27.219" v="0" actId="207"/>
          <ac:spMkLst>
            <pc:docMk/>
            <pc:sldMk cId="0" sldId="256"/>
            <ac:spMk id="14" creationId="{00000000-0000-0000-0000-000000000000}"/>
          </ac:spMkLst>
        </pc:spChg>
      </pc:sldChg>
      <pc:sldChg chg="modSp mod">
        <pc:chgData name="Surbhi Nayar" userId="5ad7f917-e5cd-447b-b5bd-e6651e7de3fe" providerId="ADAL" clId="{F6EF6FF7-ADF2-4C1B-B2D6-2E1C52858D79}" dt="2026-10-15T10:46:19.108" v="8" actId="207"/>
        <pc:sldMkLst>
          <pc:docMk/>
          <pc:sldMk cId="0" sldId="260"/>
        </pc:sldMkLst>
        <pc:spChg chg="mod">
          <ac:chgData name="Surbhi Nayar" userId="5ad7f917-e5cd-447b-b5bd-e6651e7de3fe" providerId="ADAL" clId="{F6EF6FF7-ADF2-4C1B-B2D6-2E1C52858D79}" dt="2026-10-15T10:46:19.108" v="8" actId="207"/>
          <ac:spMkLst>
            <pc:docMk/>
            <pc:sldMk cId="0" sldId="260"/>
            <ac:spMk id="3" creationId="{00000000-0000-0000-0000-000000000000}"/>
          </ac:spMkLst>
        </pc:spChg>
      </pc:sldChg>
      <pc:sldMasterChg chg="addSp mod">
        <pc:chgData name="Surbhi Nayar" userId="5ad7f917-e5cd-447b-b5bd-e6651e7de3fe" providerId="ADAL" clId="{F6EF6FF7-ADF2-4C1B-B2D6-2E1C52858D79}" dt="2026-10-15T10:45:37.047" v="3" actId="33475"/>
        <pc:sldMasterMkLst>
          <pc:docMk/>
          <pc:sldMasterMk cId="0" sldId="2147483648"/>
        </pc:sldMasterMkLst>
        <pc:spChg chg="add">
          <ac:chgData name="Surbhi Nayar" userId="5ad7f917-e5cd-447b-b5bd-e6651e7de3fe" providerId="ADAL" clId="{F6EF6FF7-ADF2-4C1B-B2D6-2E1C52858D79}" dt="2026-10-15T10:45:37.047" v="3" actId="33475"/>
          <ac:spMkLst>
            <pc:docMk/>
            <pc:sldMasterMk cId="0" sldId="2147483648"/>
            <ac:spMk id="3" creationId="{8F4DCC1B-1F6F-0FAC-A661-47B0AC74BFD6}"/>
          </ac:spMkLst>
        </pc:sp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a:t>Revenue by Region ($M)</a:t>
            </a:r>
          </a:p>
        </c:rich>
      </c:tx>
      <c:overlay val="0"/>
    </c:title>
    <c:autoTitleDeleted val="0"/>
    <c:plotArea>
      <c:layout/>
      <c:barChart>
        <c:barDir val="col"/>
        <c:grouping val="clustered"/>
        <c:varyColors val="1"/>
        <c:ser>
          <c:idx val="0"/>
          <c:order val="0"/>
          <c:tx>
            <c:strRef>
              <c:f>Sheet1!$B$1</c:f>
              <c:strCache>
                <c:ptCount val="1"/>
                <c:pt idx="0">
                  <c:v>2025-Q3</c:v>
                </c:pt>
              </c:strCache>
            </c:strRef>
          </c:tx>
          <c:invertIfNegative val="1"/>
          <c:cat>
            <c:strRef>
              <c:f>Sheet1!$A$2:$A$5</c:f>
              <c:strCache>
                <c:ptCount val="4"/>
                <c:pt idx="0">
                  <c:v>North America</c:v>
                </c:pt>
                <c:pt idx="1">
                  <c:v>Europe</c:v>
                </c:pt>
                <c:pt idx="2">
                  <c:v>APAC</c:v>
                </c:pt>
                <c:pt idx="3">
                  <c:v>Latin America</c:v>
                </c:pt>
              </c:strCache>
            </c:strRef>
          </c:cat>
          <c:val>
            <c:numRef>
              <c:f>Sheet1!$B$2:$B$5</c:f>
              <c:numCache>
                <c:formatCode>General</c:formatCode>
                <c:ptCount val="4"/>
                <c:pt idx="0">
                  <c:v>420</c:v>
                </c:pt>
                <c:pt idx="1">
                  <c:v>310</c:v>
                </c:pt>
                <c:pt idx="2">
                  <c:v>260</c:v>
                </c:pt>
                <c:pt idx="3">
                  <c:v>150</c:v>
                </c:pt>
              </c:numCache>
            </c:numRef>
          </c:val>
          <c:extLst>
            <c:ext xmlns:c16="http://schemas.microsoft.com/office/drawing/2014/chart" uri="{C3380CC4-5D6E-409C-BE32-E72D297353CC}">
              <c16:uniqueId val="{00000000-9CDC-4675-8202-A0C3DCF0F1AC}"/>
            </c:ext>
          </c:extLst>
        </c:ser>
        <c:ser>
          <c:idx val="1"/>
          <c:order val="1"/>
          <c:tx>
            <c:strRef>
              <c:f>Sheet1!$C$1</c:f>
              <c:strCache>
                <c:ptCount val="1"/>
                <c:pt idx="0">
                  <c:v>2025-Q4</c:v>
                </c:pt>
              </c:strCache>
            </c:strRef>
          </c:tx>
          <c:invertIfNegative val="1"/>
          <c:cat>
            <c:strRef>
              <c:f>Sheet1!$A$2:$A$5</c:f>
              <c:strCache>
                <c:ptCount val="4"/>
                <c:pt idx="0">
                  <c:v>North America</c:v>
                </c:pt>
                <c:pt idx="1">
                  <c:v>Europe</c:v>
                </c:pt>
                <c:pt idx="2">
                  <c:v>APAC</c:v>
                </c:pt>
                <c:pt idx="3">
                  <c:v>Latin America</c:v>
                </c:pt>
              </c:strCache>
            </c:strRef>
          </c:cat>
          <c:val>
            <c:numRef>
              <c:f>Sheet1!$C$2:$C$5</c:f>
              <c:numCache>
                <c:formatCode>General</c:formatCode>
                <c:ptCount val="4"/>
                <c:pt idx="0">
                  <c:v>460</c:v>
                </c:pt>
                <c:pt idx="1">
                  <c:v>350</c:v>
                </c:pt>
                <c:pt idx="2">
                  <c:v>300</c:v>
                </c:pt>
                <c:pt idx="3">
                  <c:v>165</c:v>
                </c:pt>
              </c:numCache>
            </c:numRef>
          </c:val>
          <c:extLst>
            <c:ext xmlns:c16="http://schemas.microsoft.com/office/drawing/2014/chart" uri="{C3380CC4-5D6E-409C-BE32-E72D297353CC}">
              <c16:uniqueId val="{00000001-9CDC-4675-8202-A0C3DCF0F1AC}"/>
            </c:ext>
          </c:extLst>
        </c:ser>
        <c:ser>
          <c:idx val="2"/>
          <c:order val="2"/>
          <c:tx>
            <c:strRef>
              <c:f>Sheet1!$D$1</c:f>
              <c:strCache>
                <c:ptCount val="1"/>
                <c:pt idx="0">
                  <c:v>2026-Q1</c:v>
                </c:pt>
              </c:strCache>
            </c:strRef>
          </c:tx>
          <c:invertIfNegative val="1"/>
          <c:cat>
            <c:strRef>
              <c:f>Sheet1!$A$2:$A$5</c:f>
              <c:strCache>
                <c:ptCount val="4"/>
                <c:pt idx="0">
                  <c:v>North America</c:v>
                </c:pt>
                <c:pt idx="1">
                  <c:v>Europe</c:v>
                </c:pt>
                <c:pt idx="2">
                  <c:v>APAC</c:v>
                </c:pt>
                <c:pt idx="3">
                  <c:v>Latin America</c:v>
                </c:pt>
              </c:strCache>
            </c:strRef>
          </c:cat>
          <c:val>
            <c:numRef>
              <c:f>Sheet1!$D$2:$D$5</c:f>
              <c:numCache>
                <c:formatCode>General</c:formatCode>
                <c:ptCount val="4"/>
                <c:pt idx="0">
                  <c:v>440</c:v>
                </c:pt>
                <c:pt idx="1">
                  <c:v>330</c:v>
                </c:pt>
                <c:pt idx="2">
                  <c:v>305</c:v>
                </c:pt>
                <c:pt idx="3">
                  <c:v>150</c:v>
                </c:pt>
              </c:numCache>
            </c:numRef>
          </c:val>
          <c:extLst>
            <c:ext xmlns:c16="http://schemas.microsoft.com/office/drawing/2014/chart" uri="{C3380CC4-5D6E-409C-BE32-E72D297353CC}">
              <c16:uniqueId val="{00000002-9CDC-4675-8202-A0C3DCF0F1AC}"/>
            </c:ext>
          </c:extLst>
        </c:ser>
        <c:ser>
          <c:idx val="3"/>
          <c:order val="3"/>
          <c:tx>
            <c:strRef>
              <c:f>Sheet1!$E$1</c:f>
              <c:strCache>
                <c:ptCount val="1"/>
                <c:pt idx="0">
                  <c:v>2026-Q2</c:v>
                </c:pt>
              </c:strCache>
            </c:strRef>
          </c:tx>
          <c:invertIfNegative val="1"/>
          <c:cat>
            <c:strRef>
              <c:f>Sheet1!$A$2:$A$5</c:f>
              <c:strCache>
                <c:ptCount val="4"/>
                <c:pt idx="0">
                  <c:v>North America</c:v>
                </c:pt>
                <c:pt idx="1">
                  <c:v>Europe</c:v>
                </c:pt>
                <c:pt idx="2">
                  <c:v>APAC</c:v>
                </c:pt>
                <c:pt idx="3">
                  <c:v>Latin America</c:v>
                </c:pt>
              </c:strCache>
            </c:strRef>
          </c:cat>
          <c:val>
            <c:numRef>
              <c:f>Sheet1!$E$2:$E$5</c:f>
              <c:numCache>
                <c:formatCode>General</c:formatCode>
                <c:ptCount val="4"/>
                <c:pt idx="0">
                  <c:v>465</c:v>
                </c:pt>
                <c:pt idx="1">
                  <c:v>345</c:v>
                </c:pt>
                <c:pt idx="2">
                  <c:v>330</c:v>
                </c:pt>
                <c:pt idx="3">
                  <c:v>140</c:v>
                </c:pt>
              </c:numCache>
            </c:numRef>
          </c:val>
          <c:extLst>
            <c:ext xmlns:c16="http://schemas.microsoft.com/office/drawing/2014/chart" uri="{C3380CC4-5D6E-409C-BE32-E72D297353CC}">
              <c16:uniqueId val="{00000003-9CDC-4675-8202-A0C3DCF0F1AC}"/>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b"/>
      <c:overlay val="0"/>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a:t>NPS Trend by Region</a:t>
            </a:r>
          </a:p>
        </c:rich>
      </c:tx>
      <c:overlay val="0"/>
    </c:title>
    <c:autoTitleDeleted val="0"/>
    <c:plotArea>
      <c:layout/>
      <c:lineChart>
        <c:grouping val="standard"/>
        <c:varyColors val="0"/>
        <c:ser>
          <c:idx val="0"/>
          <c:order val="0"/>
          <c:tx>
            <c:strRef>
              <c:f>Sheet1!$B$1</c:f>
              <c:strCache>
                <c:ptCount val="1"/>
                <c:pt idx="0">
                  <c:v>North America</c:v>
                </c:pt>
              </c:strCache>
            </c:strRef>
          </c:tx>
          <c:cat>
            <c:strRef>
              <c:f>Sheet1!$A$2:$A$5</c:f>
              <c:strCache>
                <c:ptCount val="4"/>
                <c:pt idx="0">
                  <c:v>2025-Q3</c:v>
                </c:pt>
                <c:pt idx="1">
                  <c:v>2025-Q4</c:v>
                </c:pt>
                <c:pt idx="2">
                  <c:v>2026-Q1</c:v>
                </c:pt>
                <c:pt idx="3">
                  <c:v>2026-Q2</c:v>
                </c:pt>
              </c:strCache>
            </c:strRef>
          </c:cat>
          <c:val>
            <c:numRef>
              <c:f>Sheet1!$B$2:$B$5</c:f>
              <c:numCache>
                <c:formatCode>General</c:formatCode>
                <c:ptCount val="4"/>
                <c:pt idx="0">
                  <c:v>52</c:v>
                </c:pt>
                <c:pt idx="1">
                  <c:v>54</c:v>
                </c:pt>
                <c:pt idx="2">
                  <c:v>53</c:v>
                </c:pt>
                <c:pt idx="3">
                  <c:v>55</c:v>
                </c:pt>
              </c:numCache>
            </c:numRef>
          </c:val>
          <c:smooth val="0"/>
          <c:extLst>
            <c:ext xmlns:c16="http://schemas.microsoft.com/office/drawing/2014/chart" uri="{C3380CC4-5D6E-409C-BE32-E72D297353CC}">
              <c16:uniqueId val="{00000000-CA73-4720-AFEF-668C04ABBD24}"/>
            </c:ext>
          </c:extLst>
        </c:ser>
        <c:ser>
          <c:idx val="1"/>
          <c:order val="1"/>
          <c:tx>
            <c:strRef>
              <c:f>Sheet1!$C$1</c:f>
              <c:strCache>
                <c:ptCount val="1"/>
                <c:pt idx="0">
                  <c:v>Europe</c:v>
                </c:pt>
              </c:strCache>
            </c:strRef>
          </c:tx>
          <c:cat>
            <c:strRef>
              <c:f>Sheet1!$A$2:$A$5</c:f>
              <c:strCache>
                <c:ptCount val="4"/>
                <c:pt idx="0">
                  <c:v>2025-Q3</c:v>
                </c:pt>
                <c:pt idx="1">
                  <c:v>2025-Q4</c:v>
                </c:pt>
                <c:pt idx="2">
                  <c:v>2026-Q1</c:v>
                </c:pt>
                <c:pt idx="3">
                  <c:v>2026-Q2</c:v>
                </c:pt>
              </c:strCache>
            </c:strRef>
          </c:cat>
          <c:val>
            <c:numRef>
              <c:f>Sheet1!$C$2:$C$5</c:f>
              <c:numCache>
                <c:formatCode>General</c:formatCode>
                <c:ptCount val="4"/>
                <c:pt idx="0">
                  <c:v>48</c:v>
                </c:pt>
                <c:pt idx="1">
                  <c:v>50</c:v>
                </c:pt>
                <c:pt idx="2">
                  <c:v>51</c:v>
                </c:pt>
                <c:pt idx="3">
                  <c:v>53</c:v>
                </c:pt>
              </c:numCache>
            </c:numRef>
          </c:val>
          <c:smooth val="0"/>
          <c:extLst>
            <c:ext xmlns:c16="http://schemas.microsoft.com/office/drawing/2014/chart" uri="{C3380CC4-5D6E-409C-BE32-E72D297353CC}">
              <c16:uniqueId val="{00000001-CA73-4720-AFEF-668C04ABBD24}"/>
            </c:ext>
          </c:extLst>
        </c:ser>
        <c:ser>
          <c:idx val="2"/>
          <c:order val="2"/>
          <c:tx>
            <c:strRef>
              <c:f>Sheet1!$D$1</c:f>
              <c:strCache>
                <c:ptCount val="1"/>
                <c:pt idx="0">
                  <c:v>APAC</c:v>
                </c:pt>
              </c:strCache>
            </c:strRef>
          </c:tx>
          <c:cat>
            <c:strRef>
              <c:f>Sheet1!$A$2:$A$5</c:f>
              <c:strCache>
                <c:ptCount val="4"/>
                <c:pt idx="0">
                  <c:v>2025-Q3</c:v>
                </c:pt>
                <c:pt idx="1">
                  <c:v>2025-Q4</c:v>
                </c:pt>
                <c:pt idx="2">
                  <c:v>2026-Q1</c:v>
                </c:pt>
                <c:pt idx="3">
                  <c:v>2026-Q2</c:v>
                </c:pt>
              </c:strCache>
            </c:strRef>
          </c:cat>
          <c:val>
            <c:numRef>
              <c:f>Sheet1!$D$2:$D$5</c:f>
              <c:numCache>
                <c:formatCode>General</c:formatCode>
                <c:ptCount val="4"/>
                <c:pt idx="0">
                  <c:v>58</c:v>
                </c:pt>
                <c:pt idx="1">
                  <c:v>60</c:v>
                </c:pt>
                <c:pt idx="2">
                  <c:v>61</c:v>
                </c:pt>
                <c:pt idx="3">
                  <c:v>62</c:v>
                </c:pt>
              </c:numCache>
            </c:numRef>
          </c:val>
          <c:smooth val="0"/>
          <c:extLst>
            <c:ext xmlns:c16="http://schemas.microsoft.com/office/drawing/2014/chart" uri="{C3380CC4-5D6E-409C-BE32-E72D297353CC}">
              <c16:uniqueId val="{00000002-CA73-4720-AFEF-668C04ABBD24}"/>
            </c:ext>
          </c:extLst>
        </c:ser>
        <c:ser>
          <c:idx val="3"/>
          <c:order val="3"/>
          <c:tx>
            <c:strRef>
              <c:f>Sheet1!$E$1</c:f>
              <c:strCache>
                <c:ptCount val="1"/>
                <c:pt idx="0">
                  <c:v>Latin America</c:v>
                </c:pt>
              </c:strCache>
            </c:strRef>
          </c:tx>
          <c:cat>
            <c:strRef>
              <c:f>Sheet1!$A$2:$A$5</c:f>
              <c:strCache>
                <c:ptCount val="4"/>
                <c:pt idx="0">
                  <c:v>2025-Q3</c:v>
                </c:pt>
                <c:pt idx="1">
                  <c:v>2025-Q4</c:v>
                </c:pt>
                <c:pt idx="2">
                  <c:v>2026-Q1</c:v>
                </c:pt>
                <c:pt idx="3">
                  <c:v>2026-Q2</c:v>
                </c:pt>
              </c:strCache>
            </c:strRef>
          </c:cat>
          <c:val>
            <c:numRef>
              <c:f>Sheet1!$E$2:$E$5</c:f>
              <c:numCache>
                <c:formatCode>General</c:formatCode>
                <c:ptCount val="4"/>
                <c:pt idx="0">
                  <c:v>38</c:v>
                </c:pt>
                <c:pt idx="1">
                  <c:v>35</c:v>
                </c:pt>
                <c:pt idx="2">
                  <c:v>32</c:v>
                </c:pt>
                <c:pt idx="3">
                  <c:v>29</c:v>
                </c:pt>
              </c:numCache>
            </c:numRef>
          </c:val>
          <c:smooth val="0"/>
          <c:extLst>
            <c:ext xmlns:c16="http://schemas.microsoft.com/office/drawing/2014/chart" uri="{C3380CC4-5D6E-409C-BE32-E72D297353CC}">
              <c16:uniqueId val="{00000003-CA73-4720-AFEF-668C04ABBD24}"/>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70"/>
          <c:min val="0"/>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a:t>Q2 2026 Stockout Rate</a:t>
            </a:r>
          </a:p>
        </c:rich>
      </c:tx>
      <c:overlay val="0"/>
    </c:title>
    <c:autoTitleDeleted val="0"/>
    <c:plotArea>
      <c:layout/>
      <c:barChart>
        <c:barDir val="col"/>
        <c:grouping val="clustered"/>
        <c:varyColors val="1"/>
        <c:ser>
          <c:idx val="0"/>
          <c:order val="0"/>
          <c:tx>
            <c:strRef>
              <c:f>Sheet1!$B$1</c:f>
              <c:strCache>
                <c:ptCount val="1"/>
                <c:pt idx="0">
                  <c:v>Stockout Rate %</c:v>
                </c:pt>
              </c:strCache>
            </c:strRef>
          </c:tx>
          <c:invertIfNegative val="1"/>
          <c:cat>
            <c:strRef>
              <c:f>Sheet1!$A$2:$A$5</c:f>
              <c:strCache>
                <c:ptCount val="4"/>
                <c:pt idx="0">
                  <c:v>North America</c:v>
                </c:pt>
                <c:pt idx="1">
                  <c:v>Europe</c:v>
                </c:pt>
                <c:pt idx="2">
                  <c:v>APAC</c:v>
                </c:pt>
                <c:pt idx="3">
                  <c:v>Latin America</c:v>
                </c:pt>
              </c:strCache>
            </c:strRef>
          </c:cat>
          <c:val>
            <c:numRef>
              <c:f>Sheet1!$B$2:$B$5</c:f>
              <c:numCache>
                <c:formatCode>General</c:formatCode>
                <c:ptCount val="4"/>
                <c:pt idx="0">
                  <c:v>3.8</c:v>
                </c:pt>
                <c:pt idx="1">
                  <c:v>4</c:v>
                </c:pt>
                <c:pt idx="2">
                  <c:v>8.5</c:v>
                </c:pt>
                <c:pt idx="3">
                  <c:v>12.5</c:v>
                </c:pt>
              </c:numCache>
            </c:numRef>
          </c:val>
          <c:extLst>
            <c:ext xmlns:c16="http://schemas.microsoft.com/office/drawing/2014/chart" uri="{C3380CC4-5D6E-409C-BE32-E72D297353CC}">
              <c16:uniqueId val="{00000000-FC3D-453E-AE5B-7528E1F6FB2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max val="15"/>
          <c:min val="0"/>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7624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4DCC1B-1F6F-0FAC-A661-47B0AC74BFD6}"/>
              </a:ext>
            </a:extLst>
          </p:cNvPr>
          <p:cNvSpPr txBox="1"/>
          <p:nvPr userDrawn="1">
            <p:extLst>
              <p:ext uri="{1162E1C5-73C7-4A58-AE30-91384D911F3F}">
                <p184:classification xmlns:p184="http://schemas.microsoft.com/office/powerpoint/2018/4/main" val="ftr"/>
              </p:ext>
            </p:extLst>
          </p:nvPr>
        </p:nvSpPr>
        <p:spPr>
          <a:xfrm>
            <a:off x="63500" y="6672580"/>
            <a:ext cx="855663" cy="121920"/>
          </a:xfrm>
          <a:prstGeom prst="rect">
            <a:avLst/>
          </a:prstGeom>
        </p:spPr>
        <p:txBody>
          <a:bodyPr horzOverflow="overflow" lIns="0" tIns="0" rIns="0" bIns="0">
            <a:spAutoFit/>
          </a:bodyPr>
          <a:lstStyle/>
          <a:p>
            <a:pPr algn="l"/>
            <a:r>
              <a:rPr lang="en-IN" sz="800">
                <a:solidFill>
                  <a:srgbClr val="317100">
                    <a:alpha val="50000"/>
                  </a:srgbClr>
                </a:solidFill>
                <a:latin typeface="Aptos" panose="020B0004020202020204" pitchFamily="34" charset="0"/>
              </a:rPr>
              <a:t>Sensitivity: Internal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deck_title"/>
          <p:cNvSpPr txBox="1"/>
          <p:nvPr/>
        </p:nvSpPr>
        <p:spPr>
          <a:xfrm>
            <a:off x="548640" y="457200"/>
            <a:ext cx="11091672" cy="64008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NovaRetail — Quarterly Business Review</a:t>
            </a:r>
            <a:endParaRPr lang="en-US" sz="3200" dirty="0"/>
          </a:p>
        </p:txBody>
      </p:sp>
      <p:sp>
        <p:nvSpPr>
          <p:cNvPr id="3" name="subtitle_1"/>
          <p:cNvSpPr txBox="1"/>
          <p:nvPr/>
        </p:nvSpPr>
        <p:spPr>
          <a:xfrm>
            <a:off x="548640" y="1078992"/>
            <a:ext cx="11091672" cy="365760"/>
          </a:xfrm>
          <a:prstGeom prst="rect">
            <a:avLst/>
          </a:prstGeom>
          <a:noFill/>
          <a:ln/>
        </p:spPr>
        <p:txBody>
          <a:bodyPr wrap="square" lIns="0" tIns="0" rIns="0" bIns="0" rtlCol="0" anchor="ctr"/>
          <a:lstStyle/>
          <a:p>
            <a:pPr marL="0" indent="0" algn="l">
              <a:buNone/>
            </a:pPr>
            <a:r>
              <a:rPr sz="1600" b="1" dirty="0">
                <a:solidFill>
                  <a:schemeClr val="bg1"/>
                </a:solidFill>
                <a:latin typeface="Aptos"/>
              </a:rPr>
              <a:t>Q2 2026 | Quarterly Business Review</a:t>
            </a:r>
            <a:endParaRPr lang="en-US" sz="1500" dirty="0">
              <a:solidFill>
                <a:schemeClr val="bg1"/>
              </a:solidFill>
            </a:endParaRPr>
          </a:p>
        </p:txBody>
      </p:sp>
      <p:sp>
        <p:nvSpPr>
          <p:cNvPr id="4" name="kpi1_box"/>
          <p:cNvSpPr/>
          <p:nvPr/>
        </p:nvSpPr>
        <p:spPr>
          <a:xfrm>
            <a:off x="548640" y="1874520"/>
            <a:ext cx="3453384" cy="1417320"/>
          </a:xfrm>
          <a:prstGeom prst="roundRect">
            <a:avLst>
              <a:gd name="adj" fmla="val 3871"/>
            </a:avLst>
          </a:prstGeom>
          <a:solidFill>
            <a:srgbClr val="14193F"/>
          </a:solidFill>
          <a:ln/>
        </p:spPr>
        <p:txBody>
          <a:bodyPr/>
          <a:lstStyle/>
          <a:p>
            <a:endParaRPr/>
          </a:p>
        </p:txBody>
      </p:sp>
      <p:sp>
        <p:nvSpPr>
          <p:cNvPr id="5" name="kpi1_value"/>
          <p:cNvSpPr txBox="1"/>
          <p:nvPr/>
        </p:nvSpPr>
        <p:spPr>
          <a:xfrm>
            <a:off x="685800" y="2039112"/>
            <a:ext cx="3179064" cy="640080"/>
          </a:xfrm>
          <a:prstGeom prst="rect">
            <a:avLst/>
          </a:prstGeom>
          <a:noFill/>
          <a:ln/>
        </p:spPr>
        <p:txBody>
          <a:bodyPr wrap="square" lIns="0" tIns="0" rIns="0" bIns="0" rtlCol="0" anchor="ctr"/>
          <a:lstStyle/>
          <a:p>
            <a:pPr marL="0" indent="0" algn="ctr">
              <a:buNone/>
            </a:pPr>
            <a:r>
              <a:rPr sz="2600" b="1" dirty="0">
                <a:solidFill>
                  <a:srgbClr val="0F766E"/>
                </a:solidFill>
                <a:latin typeface="Aptos"/>
              </a:rPr>
              <a:t>$1.28B</a:t>
            </a:r>
            <a:endParaRPr lang="en-US" sz="3200" dirty="0"/>
          </a:p>
        </p:txBody>
      </p:sp>
      <p:sp>
        <p:nvSpPr>
          <p:cNvPr id="6" name="kpi1_label"/>
          <p:cNvSpPr txBox="1"/>
          <p:nvPr/>
        </p:nvSpPr>
        <p:spPr>
          <a:xfrm>
            <a:off x="685800" y="2743200"/>
            <a:ext cx="3179064" cy="502920"/>
          </a:xfrm>
          <a:prstGeom prst="rect">
            <a:avLst/>
          </a:prstGeom>
          <a:noFill/>
          <a:ln/>
        </p:spPr>
        <p:txBody>
          <a:bodyPr wrap="square" lIns="0" tIns="0" rIns="0" bIns="0" rtlCol="0" anchor="ctr"/>
          <a:lstStyle/>
          <a:p>
            <a:pPr marL="0" indent="0" algn="ctr">
              <a:buNone/>
            </a:pPr>
            <a:r>
              <a:rPr sz="1100" b="0" dirty="0">
                <a:solidFill>
                  <a:schemeClr val="bg1"/>
                </a:solidFill>
                <a:latin typeface="Aptos"/>
              </a:rPr>
              <a:t>Q2 Revenue</a:t>
            </a:r>
            <a:endParaRPr lang="en-US" sz="1100" dirty="0">
              <a:solidFill>
                <a:schemeClr val="bg1"/>
              </a:solidFill>
            </a:endParaRPr>
          </a:p>
        </p:txBody>
      </p:sp>
      <p:sp>
        <p:nvSpPr>
          <p:cNvPr id="7" name="kpi2_box"/>
          <p:cNvSpPr/>
          <p:nvPr/>
        </p:nvSpPr>
        <p:spPr>
          <a:xfrm>
            <a:off x="4367784" y="1874520"/>
            <a:ext cx="3453384" cy="1417320"/>
          </a:xfrm>
          <a:prstGeom prst="roundRect">
            <a:avLst>
              <a:gd name="adj" fmla="val 3871"/>
            </a:avLst>
          </a:prstGeom>
          <a:solidFill>
            <a:srgbClr val="14193F"/>
          </a:solidFill>
          <a:ln/>
        </p:spPr>
        <p:txBody>
          <a:bodyPr/>
          <a:lstStyle/>
          <a:p>
            <a:endParaRPr/>
          </a:p>
        </p:txBody>
      </p:sp>
      <p:sp>
        <p:nvSpPr>
          <p:cNvPr id="8" name="kpi2_value"/>
          <p:cNvSpPr txBox="1"/>
          <p:nvPr/>
        </p:nvSpPr>
        <p:spPr>
          <a:xfrm>
            <a:off x="4504944" y="2039112"/>
            <a:ext cx="3179064" cy="640080"/>
          </a:xfrm>
          <a:prstGeom prst="rect">
            <a:avLst/>
          </a:prstGeom>
          <a:noFill/>
          <a:ln/>
        </p:spPr>
        <p:txBody>
          <a:bodyPr wrap="square" lIns="0" tIns="0" rIns="0" bIns="0" rtlCol="0" anchor="ctr"/>
          <a:lstStyle/>
          <a:p>
            <a:pPr marL="0" indent="0" algn="ctr">
              <a:buNone/>
            </a:pPr>
            <a:r>
              <a:rPr sz="2600" b="1">
                <a:solidFill>
                  <a:srgbClr val="0F766E"/>
                </a:solidFill>
                <a:latin typeface="Aptos"/>
              </a:rPr>
              <a:t>+4.5%</a:t>
            </a:r>
            <a:endParaRPr lang="en-US" sz="3200" dirty="0"/>
          </a:p>
        </p:txBody>
      </p:sp>
      <p:sp>
        <p:nvSpPr>
          <p:cNvPr id="9" name="kpi2_label"/>
          <p:cNvSpPr txBox="1"/>
          <p:nvPr/>
        </p:nvSpPr>
        <p:spPr>
          <a:xfrm>
            <a:off x="4504944" y="2743200"/>
            <a:ext cx="3179064" cy="502920"/>
          </a:xfrm>
          <a:prstGeom prst="rect">
            <a:avLst/>
          </a:prstGeom>
          <a:noFill/>
          <a:ln/>
        </p:spPr>
        <p:txBody>
          <a:bodyPr wrap="square" lIns="0" tIns="0" rIns="0" bIns="0" rtlCol="0" anchor="ctr"/>
          <a:lstStyle/>
          <a:p>
            <a:pPr marL="0" indent="0" algn="ctr">
              <a:buNone/>
            </a:pPr>
            <a:r>
              <a:rPr sz="1100" b="0">
                <a:solidFill>
                  <a:schemeClr val="bg1"/>
                </a:solidFill>
                <a:latin typeface="Aptos"/>
              </a:rPr>
              <a:t>QoQ Revenue Growth</a:t>
            </a:r>
            <a:endParaRPr lang="en-US" sz="1100" dirty="0">
              <a:solidFill>
                <a:schemeClr val="bg1"/>
              </a:solidFill>
            </a:endParaRPr>
          </a:p>
        </p:txBody>
      </p:sp>
      <p:sp>
        <p:nvSpPr>
          <p:cNvPr id="10" name="kpi3_box"/>
          <p:cNvSpPr/>
          <p:nvPr/>
        </p:nvSpPr>
        <p:spPr>
          <a:xfrm>
            <a:off x="8186928" y="1874520"/>
            <a:ext cx="3453384" cy="1417320"/>
          </a:xfrm>
          <a:prstGeom prst="roundRect">
            <a:avLst>
              <a:gd name="adj" fmla="val 3871"/>
            </a:avLst>
          </a:prstGeom>
          <a:solidFill>
            <a:srgbClr val="14193F"/>
          </a:solidFill>
          <a:ln/>
        </p:spPr>
        <p:txBody>
          <a:bodyPr/>
          <a:lstStyle/>
          <a:p>
            <a:endParaRPr/>
          </a:p>
        </p:txBody>
      </p:sp>
      <p:sp>
        <p:nvSpPr>
          <p:cNvPr id="11" name="kpi3_value"/>
          <p:cNvSpPr txBox="1"/>
          <p:nvPr/>
        </p:nvSpPr>
        <p:spPr>
          <a:xfrm>
            <a:off x="8324088" y="2039112"/>
            <a:ext cx="3179064" cy="640080"/>
          </a:xfrm>
          <a:prstGeom prst="rect">
            <a:avLst/>
          </a:prstGeom>
          <a:noFill/>
          <a:ln/>
        </p:spPr>
        <p:txBody>
          <a:bodyPr wrap="square" lIns="0" tIns="0" rIns="0" bIns="0" rtlCol="0" anchor="ctr"/>
          <a:lstStyle/>
          <a:p>
            <a:pPr marL="0" indent="0" algn="ctr">
              <a:buNone/>
            </a:pPr>
            <a:r>
              <a:rPr sz="2600" b="1">
                <a:solidFill>
                  <a:srgbClr val="0F766E"/>
                </a:solidFill>
                <a:latin typeface="Aptos"/>
              </a:rPr>
              <a:t>49.8</a:t>
            </a:r>
            <a:endParaRPr lang="en-US" sz="3200" dirty="0"/>
          </a:p>
        </p:txBody>
      </p:sp>
      <p:sp>
        <p:nvSpPr>
          <p:cNvPr id="12" name="kpi3_label"/>
          <p:cNvSpPr txBox="1"/>
          <p:nvPr/>
        </p:nvSpPr>
        <p:spPr>
          <a:xfrm>
            <a:off x="8324088" y="2743200"/>
            <a:ext cx="3179064" cy="502920"/>
          </a:xfrm>
          <a:prstGeom prst="rect">
            <a:avLst/>
          </a:prstGeom>
          <a:noFill/>
          <a:ln/>
        </p:spPr>
        <p:txBody>
          <a:bodyPr wrap="square" lIns="0" tIns="0" rIns="0" bIns="0" rtlCol="0" anchor="ctr"/>
          <a:lstStyle/>
          <a:p>
            <a:pPr marL="0" indent="0" algn="ctr">
              <a:buNone/>
            </a:pPr>
            <a:r>
              <a:rPr sz="1100" b="0">
                <a:solidFill>
                  <a:schemeClr val="bg1"/>
                </a:solidFill>
                <a:latin typeface="Aptos"/>
              </a:rPr>
              <a:t>Average Regional NPS</a:t>
            </a:r>
            <a:endParaRPr lang="en-US" sz="1100" dirty="0">
              <a:solidFill>
                <a:schemeClr val="bg1"/>
              </a:solidFill>
            </a:endParaRPr>
          </a:p>
        </p:txBody>
      </p:sp>
      <p:sp>
        <p:nvSpPr>
          <p:cNvPr id="13" name="summary_label"/>
          <p:cNvSpPr txBox="1"/>
          <p:nvPr/>
        </p:nvSpPr>
        <p:spPr>
          <a:xfrm>
            <a:off x="548640" y="3520440"/>
            <a:ext cx="9235440" cy="365760"/>
          </a:xfrm>
          <a:prstGeom prst="rect">
            <a:avLst/>
          </a:prstGeom>
          <a:noFill/>
          <a:ln/>
        </p:spPr>
        <p:txBody>
          <a:bodyPr wrap="square" lIns="0" tIns="0" rIns="0" bIns="0" rtlCol="0" anchor="ctr"/>
          <a:lstStyle/>
          <a:p>
            <a:pPr marL="0" indent="0" algn="l">
              <a:buNone/>
            </a:pPr>
            <a:r>
              <a:rPr lang="en-US" sz="1300" b="1" kern="0" spc="200" dirty="0">
                <a:solidFill>
                  <a:srgbClr val="CADCFC"/>
                </a:solidFill>
                <a:latin typeface="Calibri" pitchFamily="34" charset="0"/>
                <a:ea typeface="Calibri" pitchFamily="34" charset="-122"/>
                <a:cs typeface="Calibri" pitchFamily="34" charset="-120"/>
              </a:rPr>
              <a:t>EXECUTIVE SUMMARY</a:t>
            </a:r>
            <a:endParaRPr lang="en-US" sz="1300" dirty="0"/>
          </a:p>
        </p:txBody>
      </p:sp>
      <p:sp>
        <p:nvSpPr>
          <p:cNvPr id="14" name="summary_text"/>
          <p:cNvSpPr txBox="1"/>
          <p:nvPr/>
        </p:nvSpPr>
        <p:spPr>
          <a:xfrm>
            <a:off x="548640" y="3886200"/>
            <a:ext cx="9235440" cy="2331720"/>
          </a:xfrm>
          <a:prstGeom prst="rect">
            <a:avLst/>
          </a:prstGeom>
          <a:noFill/>
          <a:ln/>
        </p:spPr>
        <p:txBody>
          <a:bodyPr wrap="square" lIns="0" tIns="0" rIns="0" bIns="0" rtlCol="0" anchor="t"/>
          <a:lstStyle/>
          <a:p>
            <a:pPr marL="0" indent="0" algn="l">
              <a:buNone/>
            </a:pPr>
            <a:r>
              <a:rPr sz="1500" b="0" dirty="0" err="1">
                <a:solidFill>
                  <a:schemeClr val="bg1"/>
                </a:solidFill>
                <a:latin typeface="Aptos"/>
              </a:rPr>
              <a:t>NovaRetail</a:t>
            </a:r>
            <a:r>
              <a:rPr sz="1500" b="0" dirty="0">
                <a:solidFill>
                  <a:schemeClr val="bg1"/>
                </a:solidFill>
                <a:latin typeface="Aptos"/>
              </a:rPr>
              <a:t> closed Q2 2026 with revenue of $1.28B, up 4.5% from Q1. APAC delivered the strongest quarterly growth and the highest customer advocacy score. Latin America continued to contract while its customer experience and operational indicators deteriorated. APAC's capacity constraints also require attention to protect future growth.</a:t>
            </a:r>
            <a:endParaRPr lang="en-US" sz="1800" dirty="0">
              <a:solidFill>
                <a:schemeClr val="bg1"/>
              </a:solidFill>
            </a:endParaRPr>
          </a:p>
        </p:txBody>
      </p:sp>
      <p:sp>
        <p:nvSpPr>
          <p:cNvPr id="16" name="icon_1_label"/>
          <p:cNvSpPr txBox="1"/>
          <p:nvPr/>
        </p:nvSpPr>
        <p:spPr>
          <a:xfrm>
            <a:off x="10195560" y="4050792"/>
            <a:ext cx="1307592" cy="1252728"/>
          </a:xfrm>
          <a:prstGeom prst="rect">
            <a:avLst/>
          </a:prstGeom>
          <a:noFill/>
          <a:ln/>
        </p:spPr>
        <p:txBody>
          <a:bodyPr wrap="square" lIns="0" tIns="0" rIns="0" bIns="0" rtlCol="0" anchor="t"/>
          <a:lstStyle/>
          <a:p>
            <a:pPr marL="0" indent="0" algn="ctr">
              <a:buNone/>
            </a:pPr>
            <a:endParaRPr lang="en-US" sz="1300" dirty="0"/>
          </a:p>
        </p:txBody>
      </p:sp>
      <p:sp>
        <p:nvSpPr>
          <p:cNvPr id="17" name="footer_1"/>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50" dirty="0">
                <a:solidFill>
                  <a:srgbClr val="9FB3E8"/>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18" name="page_num_1"/>
          <p:cNvSpPr txBox="1"/>
          <p:nvPr/>
        </p:nvSpPr>
        <p:spPr>
          <a:xfrm>
            <a:off x="11274552" y="6510528"/>
            <a:ext cx="365760" cy="274320"/>
          </a:xfrm>
          <a:prstGeom prst="rect">
            <a:avLst/>
          </a:prstGeom>
          <a:noFill/>
          <a:ln/>
        </p:spPr>
        <p:txBody>
          <a:bodyPr wrap="square" lIns="0" tIns="0" rIns="0" bIns="0" rtlCol="0" anchor="ctr"/>
          <a:lstStyle/>
          <a:p>
            <a:pPr marL="0" indent="0" algn="r">
              <a:buNone/>
            </a:pPr>
            <a:r>
              <a:rPr lang="en-US" sz="950" dirty="0">
                <a:solidFill>
                  <a:srgbClr val="9FB3E8"/>
                </a:solidFill>
                <a:latin typeface="Calibri" pitchFamily="34" charset="0"/>
                <a:ea typeface="Calibri" pitchFamily="34" charset="-122"/>
                <a:cs typeface="Calibri" pitchFamily="34" charset="-120"/>
              </a:rPr>
              <a:t>1</a:t>
            </a:r>
            <a:endParaRPr lang="en-US" sz="950" dirty="0"/>
          </a:p>
        </p:txBody>
      </p:sp>
      <p:pic>
        <p:nvPicPr>
          <p:cNvPr id="19" name="Picture 18" descr="globe_region.png"/>
          <p:cNvPicPr>
            <a:picLocks noChangeAspect="1"/>
          </p:cNvPicPr>
          <p:nvPr/>
        </p:nvPicPr>
        <p:blipFill>
          <a:blip r:embed="rId3"/>
          <a:stretch>
            <a:fillRect/>
          </a:stretch>
        </p:blipFill>
        <p:spPr>
          <a:xfrm>
            <a:off x="10058400" y="3886200"/>
            <a:ext cx="1581912" cy="15819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itle_2"/>
          <p:cNvSpPr txBox="1"/>
          <p:nvPr/>
        </p:nvSpPr>
        <p:spPr>
          <a:xfrm>
            <a:off x="548640" y="365760"/>
            <a:ext cx="11091672" cy="868680"/>
          </a:xfrm>
          <a:prstGeom prst="rect">
            <a:avLst/>
          </a:prstGeom>
          <a:noFill/>
          <a:ln/>
        </p:spPr>
        <p:txBody>
          <a:bodyPr wrap="square" lIns="0" tIns="0" rIns="0" bIns="0" rtlCol="0" anchor="t"/>
          <a:lstStyle/>
          <a:p>
            <a:pPr marL="0" indent="0" algn="l">
              <a:buNone/>
            </a:pPr>
            <a:r>
              <a:rPr sz="2400" b="1">
                <a:solidFill>
                  <a:srgbClr val="111827"/>
                </a:solidFill>
                <a:latin typeface="Aptos"/>
              </a:rPr>
              <a:t>APAC Drives Growth as Latin America Declines Further</a:t>
            </a:r>
            <a:endParaRPr lang="en-US" sz="2400" dirty="0"/>
          </a:p>
        </p:txBody>
      </p:sp>
      <p:sp>
        <p:nvSpPr>
          <p:cNvPr id="4" name="chart_performance_label"/>
          <p:cNvSpPr txBox="1"/>
          <p:nvPr/>
        </p:nvSpPr>
        <p:spPr>
          <a:xfrm>
            <a:off x="685800" y="1581912"/>
            <a:ext cx="6400800" cy="4471416"/>
          </a:xfrm>
          <a:prstGeom prst="rect">
            <a:avLst/>
          </a:prstGeom>
          <a:noFill/>
          <a:ln/>
        </p:spPr>
        <p:txBody>
          <a:bodyPr wrap="square" lIns="0" tIns="0" rIns="0" bIns="0" rtlCol="0" anchor="t"/>
          <a:lstStyle/>
          <a:p>
            <a:pPr marL="0" indent="0" algn="ctr">
              <a:buNone/>
            </a:pPr>
            <a:endParaRPr lang="en-US" sz="1300" dirty="0"/>
          </a:p>
        </p:txBody>
      </p:sp>
      <p:sp>
        <p:nvSpPr>
          <p:cNvPr id="5" name="insights_performance"/>
          <p:cNvSpPr txBox="1"/>
          <p:nvPr/>
        </p:nvSpPr>
        <p:spPr>
          <a:xfrm>
            <a:off x="7543800" y="1417320"/>
            <a:ext cx="4096512" cy="3474720"/>
          </a:xfrm>
          <a:prstGeom prst="rect">
            <a:avLst/>
          </a:prstGeom>
          <a:noFill/>
          <a:ln/>
        </p:spPr>
        <p:txBody>
          <a:bodyPr wrap="square" lIns="0" tIns="0" rIns="0" bIns="0" rtlCol="0" anchor="t"/>
          <a:lstStyle/>
          <a:p>
            <a:pPr marL="0" indent="0" algn="l">
              <a:spcAft>
                <a:spcPts val="800"/>
              </a:spcAft>
              <a:buNone/>
              <a:defRPr sz="1400">
                <a:solidFill>
                  <a:srgbClr val="374151"/>
                </a:solidFill>
                <a:latin typeface="Aptos"/>
              </a:defRPr>
            </a:pPr>
            <a:r>
              <a:t>APAC revenue reached $330M, increasing 8.2% QoQ.</a:t>
            </a:r>
            <a:endParaRPr lang="en-US" sz="1350" dirty="0"/>
          </a:p>
          <a:p>
            <a:pPr>
              <a:spcAft>
                <a:spcPts val="800"/>
              </a:spcAft>
              <a:defRPr sz="1400">
                <a:solidFill>
                  <a:srgbClr val="374151"/>
                </a:solidFill>
                <a:latin typeface="Aptos"/>
              </a:defRPr>
            </a:pPr>
            <a:r>
              <a:t>North America remained the largest market at $465M.</a:t>
            </a:r>
          </a:p>
          <a:p>
            <a:pPr>
              <a:spcAft>
                <a:spcPts val="800"/>
              </a:spcAft>
              <a:defRPr sz="1400">
                <a:solidFill>
                  <a:srgbClr val="374151"/>
                </a:solidFill>
                <a:latin typeface="Aptos"/>
              </a:defRPr>
            </a:pPr>
            <a:r>
              <a:t>Europe improved 4.5% QoQ, but remained below its Q4 peak.</a:t>
            </a:r>
          </a:p>
          <a:p>
            <a:pPr>
              <a:spcAft>
                <a:spcPts val="800"/>
              </a:spcAft>
              <a:defRPr sz="1400">
                <a:solidFill>
                  <a:srgbClr val="374151"/>
                </a:solidFill>
                <a:latin typeface="Aptos"/>
              </a:defRPr>
            </a:pPr>
            <a:r>
              <a:t>Latin America declined 6.7% QoQ while returns reached 8.2%.</a:t>
            </a:r>
          </a:p>
        </p:txBody>
      </p:sp>
      <p:sp>
        <p:nvSpPr>
          <p:cNvPr id="7" name="icon_2_label"/>
          <p:cNvSpPr txBox="1"/>
          <p:nvPr/>
        </p:nvSpPr>
        <p:spPr>
          <a:xfrm>
            <a:off x="7680960" y="5330952"/>
            <a:ext cx="1051560" cy="722376"/>
          </a:xfrm>
          <a:prstGeom prst="rect">
            <a:avLst/>
          </a:prstGeom>
          <a:noFill/>
          <a:ln/>
        </p:spPr>
        <p:txBody>
          <a:bodyPr wrap="square" lIns="0" tIns="0" rIns="0" bIns="0" rtlCol="0" anchor="t"/>
          <a:lstStyle/>
          <a:p>
            <a:pPr marL="0" indent="0" algn="ctr">
              <a:buNone/>
            </a:pPr>
            <a:endParaRPr lang="en-US" sz="1300" dirty="0"/>
          </a:p>
        </p:txBody>
      </p:sp>
      <p:sp>
        <p:nvSpPr>
          <p:cNvPr id="8" name="footer_2"/>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2"/>
          <p:cNvSpPr txBox="1"/>
          <p:nvPr/>
        </p:nvSpPr>
        <p:spPr>
          <a:xfrm>
            <a:off x="11274552" y="6510528"/>
            <a:ext cx="365760" cy="274320"/>
          </a:xfrm>
          <a:prstGeom prst="rect">
            <a:avLst/>
          </a:prstGeom>
          <a:noFill/>
          <a:ln/>
        </p:spPr>
        <p:txBody>
          <a:bodyPr wrap="square" lIns="0" tIns="0" rIns="0" bIns="0" rtlCol="0" anchor="ctr"/>
          <a:lstStyle/>
          <a:p>
            <a:pPr marL="0" indent="0" algn="r">
              <a:buNone/>
            </a:pPr>
            <a:r>
              <a:rPr lang="en-US" sz="950" dirty="0">
                <a:solidFill>
                  <a:srgbClr val="5B6B8C"/>
                </a:solidFill>
                <a:latin typeface="Calibri" pitchFamily="34" charset="0"/>
                <a:ea typeface="Calibri" pitchFamily="34" charset="-122"/>
                <a:cs typeface="Calibri" pitchFamily="34" charset="-120"/>
              </a:rPr>
              <a:t>2</a:t>
            </a:r>
            <a:endParaRPr lang="en-US" sz="950" dirty="0"/>
          </a:p>
        </p:txBody>
      </p:sp>
      <p:graphicFrame>
        <p:nvGraphicFramePr>
          <p:cNvPr id="10" name="Chart 9"/>
          <p:cNvGraphicFramePr>
            <a:graphicFrameLocks noGrp="1"/>
          </p:cNvGraphicFramePr>
          <p:nvPr/>
        </p:nvGraphicFramePr>
        <p:xfrm>
          <a:off x="548640" y="1417320"/>
          <a:ext cx="6675120" cy="4800600"/>
        </p:xfrm>
        <a:graphic>
          <a:graphicData uri="http://schemas.openxmlformats.org/drawingml/2006/chart">
            <c:chart xmlns:c="http://schemas.openxmlformats.org/drawingml/2006/chart" xmlns:r="http://schemas.openxmlformats.org/officeDocument/2006/relationships" r:id="rId3"/>
          </a:graphicData>
        </a:graphic>
      </p:graphicFrame>
      <p:pic>
        <p:nvPicPr>
          <p:cNvPr id="11" name="Picture 10" descr="growth_chart.png"/>
          <p:cNvPicPr>
            <a:picLocks noChangeAspect="1"/>
          </p:cNvPicPr>
          <p:nvPr/>
        </p:nvPicPr>
        <p:blipFill>
          <a:blip r:embed="rId4"/>
          <a:stretch>
            <a:fillRect/>
          </a:stretch>
        </p:blipFill>
        <p:spPr>
          <a:xfrm>
            <a:off x="7543800" y="5166360"/>
            <a:ext cx="1325880" cy="1051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itle_3"/>
          <p:cNvSpPr txBox="1"/>
          <p:nvPr/>
        </p:nvSpPr>
        <p:spPr>
          <a:xfrm>
            <a:off x="548640" y="365760"/>
            <a:ext cx="11091672" cy="868680"/>
          </a:xfrm>
          <a:prstGeom prst="rect">
            <a:avLst/>
          </a:prstGeom>
          <a:noFill/>
          <a:ln/>
        </p:spPr>
        <p:txBody>
          <a:bodyPr wrap="square" lIns="0" tIns="0" rIns="0" bIns="0" rtlCol="0" anchor="t"/>
          <a:lstStyle/>
          <a:p>
            <a:pPr marL="0" indent="0" algn="l">
              <a:buNone/>
            </a:pPr>
            <a:r>
              <a:rPr sz="2400" b="1">
                <a:solidFill>
                  <a:srgbClr val="111827"/>
                </a:solidFill>
                <a:latin typeface="Aptos"/>
              </a:rPr>
              <a:t>APAC Sets the CX Benchmark While Latin America Deteriorates</a:t>
            </a:r>
            <a:endParaRPr lang="en-US" sz="2400" dirty="0"/>
          </a:p>
        </p:txBody>
      </p:sp>
      <p:sp>
        <p:nvSpPr>
          <p:cNvPr id="4" name="chart_customer_label"/>
          <p:cNvSpPr txBox="1"/>
          <p:nvPr/>
        </p:nvSpPr>
        <p:spPr>
          <a:xfrm>
            <a:off x="685800" y="1581912"/>
            <a:ext cx="6400800" cy="4471416"/>
          </a:xfrm>
          <a:prstGeom prst="rect">
            <a:avLst/>
          </a:prstGeom>
          <a:noFill/>
          <a:ln/>
        </p:spPr>
        <p:txBody>
          <a:bodyPr wrap="square" lIns="0" tIns="0" rIns="0" bIns="0" rtlCol="0" anchor="t"/>
          <a:lstStyle/>
          <a:p>
            <a:pPr marL="0" indent="0" algn="ctr">
              <a:buNone/>
            </a:pPr>
            <a:endParaRPr lang="en-US" sz="1300" dirty="0"/>
          </a:p>
        </p:txBody>
      </p:sp>
      <p:sp>
        <p:nvSpPr>
          <p:cNvPr id="5" name="insights_customer"/>
          <p:cNvSpPr txBox="1"/>
          <p:nvPr/>
        </p:nvSpPr>
        <p:spPr>
          <a:xfrm>
            <a:off x="7543800" y="1417320"/>
            <a:ext cx="4096512" cy="3474720"/>
          </a:xfrm>
          <a:prstGeom prst="rect">
            <a:avLst/>
          </a:prstGeom>
          <a:noFill/>
          <a:ln/>
        </p:spPr>
        <p:txBody>
          <a:bodyPr wrap="square" lIns="0" tIns="0" rIns="0" bIns="0" rtlCol="0" anchor="t"/>
          <a:lstStyle/>
          <a:p>
            <a:pPr marL="0" indent="0" algn="l">
              <a:spcAft>
                <a:spcPts val="800"/>
              </a:spcAft>
              <a:buNone/>
              <a:defRPr sz="1400">
                <a:solidFill>
                  <a:srgbClr val="374151"/>
                </a:solidFill>
                <a:latin typeface="Aptos"/>
              </a:defRPr>
            </a:pPr>
            <a:r>
              <a:t>APAC led customer experience with NPS 62 and CSAT of 92%.</a:t>
            </a:r>
            <a:endParaRPr lang="en-US" sz="1350" dirty="0"/>
          </a:p>
          <a:p>
            <a:pPr>
              <a:spcAft>
                <a:spcPts val="800"/>
              </a:spcAft>
              <a:defRPr sz="1400">
                <a:solidFill>
                  <a:srgbClr val="374151"/>
                </a:solidFill>
                <a:latin typeface="Aptos"/>
              </a:defRPr>
            </a:pPr>
            <a:r>
              <a:t>North America and Europe improved to NPS 55 and 53.</a:t>
            </a:r>
          </a:p>
          <a:p>
            <a:pPr>
              <a:spcAft>
                <a:spcPts val="800"/>
              </a:spcAft>
              <a:defRPr sz="1400">
                <a:solidFill>
                  <a:srgbClr val="374151"/>
                </a:solidFill>
                <a:latin typeface="Aptos"/>
              </a:defRPr>
            </a:pPr>
            <a:r>
              <a:t>Latin America NPS fell from 38 to 29 across four quarters.</a:t>
            </a:r>
          </a:p>
          <a:p>
            <a:pPr>
              <a:spcAft>
                <a:spcPts val="800"/>
              </a:spcAft>
              <a:defRPr sz="1400">
                <a:solidFill>
                  <a:srgbClr val="374151"/>
                </a:solidFill>
                <a:latin typeface="Aptos"/>
              </a:defRPr>
            </a:pPr>
            <a:r>
              <a:t>Delivery reached 7.5 days and support volume climbed to 31K.</a:t>
            </a:r>
          </a:p>
        </p:txBody>
      </p:sp>
      <p:sp>
        <p:nvSpPr>
          <p:cNvPr id="7" name="icon_3_label"/>
          <p:cNvSpPr txBox="1"/>
          <p:nvPr/>
        </p:nvSpPr>
        <p:spPr>
          <a:xfrm>
            <a:off x="7680960" y="5330952"/>
            <a:ext cx="1051560" cy="722376"/>
          </a:xfrm>
          <a:prstGeom prst="rect">
            <a:avLst/>
          </a:prstGeom>
          <a:noFill/>
          <a:ln/>
        </p:spPr>
        <p:txBody>
          <a:bodyPr wrap="square" lIns="0" tIns="0" rIns="0" bIns="0" rtlCol="0" anchor="t"/>
          <a:lstStyle/>
          <a:p>
            <a:pPr marL="0" indent="0" algn="ctr">
              <a:buNone/>
            </a:pPr>
            <a:endParaRPr lang="en-US" sz="1300" dirty="0"/>
          </a:p>
        </p:txBody>
      </p:sp>
      <p:sp>
        <p:nvSpPr>
          <p:cNvPr id="8" name="footer_3"/>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3"/>
          <p:cNvSpPr txBox="1"/>
          <p:nvPr/>
        </p:nvSpPr>
        <p:spPr>
          <a:xfrm>
            <a:off x="11274552" y="6510528"/>
            <a:ext cx="365760" cy="274320"/>
          </a:xfrm>
          <a:prstGeom prst="rect">
            <a:avLst/>
          </a:prstGeom>
          <a:noFill/>
          <a:ln/>
        </p:spPr>
        <p:txBody>
          <a:bodyPr wrap="square" lIns="0" tIns="0" rIns="0" bIns="0" rtlCol="0" anchor="ctr"/>
          <a:lstStyle/>
          <a:p>
            <a:pPr marL="0" indent="0" algn="r">
              <a:buNone/>
            </a:pPr>
            <a:r>
              <a:rPr lang="en-US" sz="950" dirty="0">
                <a:solidFill>
                  <a:srgbClr val="5B6B8C"/>
                </a:solidFill>
                <a:latin typeface="Calibri" pitchFamily="34" charset="0"/>
                <a:ea typeface="Calibri" pitchFamily="34" charset="-122"/>
                <a:cs typeface="Calibri" pitchFamily="34" charset="-120"/>
              </a:rPr>
              <a:t>3</a:t>
            </a:r>
            <a:endParaRPr lang="en-US" sz="950" dirty="0"/>
          </a:p>
        </p:txBody>
      </p:sp>
      <p:graphicFrame>
        <p:nvGraphicFramePr>
          <p:cNvPr id="10" name="Chart 9"/>
          <p:cNvGraphicFramePr>
            <a:graphicFrameLocks noGrp="1"/>
          </p:cNvGraphicFramePr>
          <p:nvPr/>
        </p:nvGraphicFramePr>
        <p:xfrm>
          <a:off x="548640" y="1417320"/>
          <a:ext cx="6675120" cy="4800600"/>
        </p:xfrm>
        <a:graphic>
          <a:graphicData uri="http://schemas.openxmlformats.org/drawingml/2006/chart">
            <c:chart xmlns:c="http://schemas.openxmlformats.org/drawingml/2006/chart" xmlns:r="http://schemas.openxmlformats.org/officeDocument/2006/relationships" r:id="rId3"/>
          </a:graphicData>
        </a:graphic>
      </p:graphicFrame>
      <p:pic>
        <p:nvPicPr>
          <p:cNvPr id="11" name="Picture 10" descr="customer_star.png"/>
          <p:cNvPicPr>
            <a:picLocks noChangeAspect="1"/>
          </p:cNvPicPr>
          <p:nvPr/>
        </p:nvPicPr>
        <p:blipFill>
          <a:blip r:embed="rId4"/>
          <a:stretch>
            <a:fillRect/>
          </a:stretch>
        </p:blipFill>
        <p:spPr>
          <a:xfrm>
            <a:off x="7543800" y="5166360"/>
            <a:ext cx="1325880" cy="10515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itle_4"/>
          <p:cNvSpPr txBox="1"/>
          <p:nvPr/>
        </p:nvSpPr>
        <p:spPr>
          <a:xfrm>
            <a:off x="548640" y="365760"/>
            <a:ext cx="11091672" cy="868680"/>
          </a:xfrm>
          <a:prstGeom prst="rect">
            <a:avLst/>
          </a:prstGeom>
          <a:noFill/>
          <a:ln/>
        </p:spPr>
        <p:txBody>
          <a:bodyPr wrap="square" lIns="0" tIns="0" rIns="0" bIns="0" rtlCol="0" anchor="t"/>
          <a:lstStyle/>
          <a:p>
            <a:pPr marL="0" indent="0" algn="l">
              <a:buNone/>
            </a:pPr>
            <a:r>
              <a:rPr sz="2400" b="1">
                <a:solidFill>
                  <a:srgbClr val="111827"/>
                </a:solidFill>
                <a:latin typeface="Aptos"/>
              </a:rPr>
              <a:t>Capacity Pressure and Escalating Regional Risk Demand Action</a:t>
            </a:r>
            <a:endParaRPr lang="en-US" sz="2400" dirty="0"/>
          </a:p>
        </p:txBody>
      </p:sp>
      <p:sp>
        <p:nvSpPr>
          <p:cNvPr id="4" name="chart_risk_label"/>
          <p:cNvSpPr txBox="1"/>
          <p:nvPr/>
        </p:nvSpPr>
        <p:spPr>
          <a:xfrm>
            <a:off x="685800" y="1581912"/>
            <a:ext cx="6400800" cy="4471416"/>
          </a:xfrm>
          <a:prstGeom prst="rect">
            <a:avLst/>
          </a:prstGeom>
          <a:noFill/>
          <a:ln/>
        </p:spPr>
        <p:txBody>
          <a:bodyPr wrap="square" lIns="0" tIns="0" rIns="0" bIns="0" rtlCol="0" anchor="t"/>
          <a:lstStyle/>
          <a:p>
            <a:pPr marL="0" indent="0" algn="ctr">
              <a:buNone/>
            </a:pPr>
            <a:endParaRPr lang="en-US" sz="1300" dirty="0"/>
          </a:p>
        </p:txBody>
      </p:sp>
      <p:sp>
        <p:nvSpPr>
          <p:cNvPr id="5" name="insights_risk"/>
          <p:cNvSpPr txBox="1"/>
          <p:nvPr/>
        </p:nvSpPr>
        <p:spPr>
          <a:xfrm>
            <a:off x="7543800" y="1417320"/>
            <a:ext cx="4096512" cy="3474720"/>
          </a:xfrm>
          <a:prstGeom prst="rect">
            <a:avLst/>
          </a:prstGeom>
          <a:noFill/>
          <a:ln/>
        </p:spPr>
        <p:txBody>
          <a:bodyPr wrap="square" lIns="0" tIns="0" rIns="0" bIns="0" rtlCol="0" anchor="t"/>
          <a:lstStyle/>
          <a:p>
            <a:pPr marL="0" indent="0" algn="l">
              <a:spcAft>
                <a:spcPts val="800"/>
              </a:spcAft>
              <a:buNone/>
              <a:defRPr sz="1400">
                <a:solidFill>
                  <a:srgbClr val="374151"/>
                </a:solidFill>
                <a:latin typeface="Aptos"/>
              </a:defRPr>
            </a:pPr>
            <a:r>
              <a:t>Latin America stockouts reached 12.5%, the highest level.</a:t>
            </a:r>
            <a:endParaRPr lang="en-US" sz="1350" dirty="0"/>
          </a:p>
          <a:p>
            <a:pPr>
              <a:spcAft>
                <a:spcPts val="800"/>
              </a:spcAft>
              <a:defRPr sz="1400">
                <a:solidFill>
                  <a:srgbClr val="374151"/>
                </a:solidFill>
                <a:latin typeface="Aptos"/>
              </a:defRPr>
            </a:pPr>
            <a:r>
              <a:t>Its return processing increased to 10 days.</a:t>
            </a:r>
          </a:p>
          <a:p>
            <a:pPr>
              <a:spcAft>
                <a:spcPts val="800"/>
              </a:spcAft>
              <a:defRPr sz="1400">
                <a:solidFill>
                  <a:srgbClr val="374151"/>
                </a:solidFill>
                <a:latin typeface="Aptos"/>
              </a:defRPr>
            </a:pPr>
            <a:r>
              <a:t>Fraud incidents rose from 18 to 30 across four quarters.</a:t>
            </a:r>
          </a:p>
          <a:p>
            <a:pPr>
              <a:spcAft>
                <a:spcPts val="800"/>
              </a:spcAft>
              <a:defRPr sz="1400">
                <a:solidFill>
                  <a:srgbClr val="374151"/>
                </a:solidFill>
                <a:latin typeface="Aptos"/>
              </a:defRPr>
            </a:pPr>
            <a:r>
              <a:t>APAC warehouse utilization reached 92%, constraining growth.</a:t>
            </a:r>
          </a:p>
        </p:txBody>
      </p:sp>
      <p:sp>
        <p:nvSpPr>
          <p:cNvPr id="7" name="icon_4_label"/>
          <p:cNvSpPr txBox="1"/>
          <p:nvPr/>
        </p:nvSpPr>
        <p:spPr>
          <a:xfrm>
            <a:off x="7680960" y="5330952"/>
            <a:ext cx="1051560" cy="722376"/>
          </a:xfrm>
          <a:prstGeom prst="rect">
            <a:avLst/>
          </a:prstGeom>
          <a:noFill/>
          <a:ln/>
        </p:spPr>
        <p:txBody>
          <a:bodyPr wrap="square" lIns="0" tIns="0" rIns="0" bIns="0" rtlCol="0" anchor="t"/>
          <a:lstStyle/>
          <a:p>
            <a:pPr marL="0" indent="0" algn="ctr">
              <a:buNone/>
            </a:pPr>
            <a:endParaRPr lang="en-US" sz="1300" dirty="0"/>
          </a:p>
        </p:txBody>
      </p:sp>
      <p:sp>
        <p:nvSpPr>
          <p:cNvPr id="8" name="footer_4"/>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4"/>
          <p:cNvSpPr txBox="1"/>
          <p:nvPr/>
        </p:nvSpPr>
        <p:spPr>
          <a:xfrm>
            <a:off x="11274552" y="6510528"/>
            <a:ext cx="365760" cy="274320"/>
          </a:xfrm>
          <a:prstGeom prst="rect">
            <a:avLst/>
          </a:prstGeom>
          <a:noFill/>
          <a:ln/>
        </p:spPr>
        <p:txBody>
          <a:bodyPr wrap="square" lIns="0" tIns="0" rIns="0" bIns="0" rtlCol="0" anchor="ctr"/>
          <a:lstStyle/>
          <a:p>
            <a:pPr marL="0" indent="0" algn="r">
              <a:buNone/>
            </a:pPr>
            <a:r>
              <a:rPr lang="en-US" sz="950" dirty="0">
                <a:solidFill>
                  <a:srgbClr val="5B6B8C"/>
                </a:solidFill>
                <a:latin typeface="Calibri" pitchFamily="34" charset="0"/>
                <a:ea typeface="Calibri" pitchFamily="34" charset="-122"/>
                <a:cs typeface="Calibri" pitchFamily="34" charset="-120"/>
              </a:rPr>
              <a:t>4</a:t>
            </a:r>
            <a:endParaRPr lang="en-US" sz="950" dirty="0"/>
          </a:p>
        </p:txBody>
      </p:sp>
      <p:graphicFrame>
        <p:nvGraphicFramePr>
          <p:cNvPr id="10" name="Chart 9"/>
          <p:cNvGraphicFramePr>
            <a:graphicFrameLocks noGrp="1"/>
          </p:cNvGraphicFramePr>
          <p:nvPr/>
        </p:nvGraphicFramePr>
        <p:xfrm>
          <a:off x="548640" y="1417320"/>
          <a:ext cx="6675120" cy="4800600"/>
        </p:xfrm>
        <a:graphic>
          <a:graphicData uri="http://schemas.openxmlformats.org/drawingml/2006/chart">
            <c:chart xmlns:c="http://schemas.openxmlformats.org/drawingml/2006/chart" xmlns:r="http://schemas.openxmlformats.org/officeDocument/2006/relationships" r:id="rId3"/>
          </a:graphicData>
        </a:graphic>
      </p:graphicFrame>
      <p:pic>
        <p:nvPicPr>
          <p:cNvPr id="11" name="Picture 10" descr="risk_alert.png"/>
          <p:cNvPicPr>
            <a:picLocks noChangeAspect="1"/>
          </p:cNvPicPr>
          <p:nvPr/>
        </p:nvPicPr>
        <p:blipFill>
          <a:blip r:embed="rId4"/>
          <a:stretch>
            <a:fillRect/>
          </a:stretch>
        </p:blipFill>
        <p:spPr>
          <a:xfrm>
            <a:off x="7543800" y="5166360"/>
            <a:ext cx="1325880" cy="10515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itle_5"/>
          <p:cNvSpPr txBox="1"/>
          <p:nvPr/>
        </p:nvSpPr>
        <p:spPr>
          <a:xfrm>
            <a:off x="548640" y="457200"/>
            <a:ext cx="11091672" cy="73152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Recommended Actions &amp; Next Steps</a:t>
            </a:r>
            <a:endParaRPr lang="en-US" sz="2800" dirty="0"/>
          </a:p>
        </p:txBody>
      </p:sp>
      <p:sp>
        <p:nvSpPr>
          <p:cNvPr id="3" name="recommendations_text"/>
          <p:cNvSpPr txBox="1"/>
          <p:nvPr/>
        </p:nvSpPr>
        <p:spPr>
          <a:xfrm>
            <a:off x="548640" y="1463040"/>
            <a:ext cx="6675120" cy="4206240"/>
          </a:xfrm>
          <a:prstGeom prst="rect">
            <a:avLst/>
          </a:prstGeom>
          <a:noFill/>
          <a:ln/>
        </p:spPr>
        <p:txBody>
          <a:bodyPr wrap="square" lIns="0" tIns="0" rIns="0" bIns="0" rtlCol="0" anchor="t"/>
          <a:lstStyle/>
          <a:p>
            <a:pPr marL="0" indent="0" algn="l">
              <a:spcAft>
                <a:spcPts val="1000"/>
              </a:spcAft>
              <a:buNone/>
            </a:pPr>
            <a:r>
              <a:rPr sz="1500" b="1" dirty="0">
                <a:solidFill>
                  <a:srgbClr val="0F766E"/>
                </a:solidFill>
                <a:latin typeface="Aptos"/>
              </a:rPr>
              <a:t>EXPAND APAC CAPACITY:</a:t>
            </a:r>
            <a:r>
              <a:rPr sz="1500" dirty="0">
                <a:solidFill>
                  <a:srgbClr val="374151"/>
                </a:solidFill>
                <a:latin typeface="Aptos"/>
              </a:rPr>
              <a:t> </a:t>
            </a:r>
            <a:r>
              <a:rPr sz="1500" dirty="0">
                <a:solidFill>
                  <a:schemeClr val="bg1"/>
                </a:solidFill>
                <a:latin typeface="Aptos"/>
              </a:rPr>
              <a:t>Improve warehouse capacity and inventory allocation.</a:t>
            </a:r>
            <a:endParaRPr lang="en-US" sz="1600" dirty="0">
              <a:solidFill>
                <a:schemeClr val="bg1"/>
              </a:solidFill>
            </a:endParaRPr>
          </a:p>
          <a:p>
            <a:pPr>
              <a:spcAft>
                <a:spcPts val="1000"/>
              </a:spcAft>
            </a:pPr>
            <a:r>
              <a:rPr sz="1500" b="1" dirty="0">
                <a:solidFill>
                  <a:srgbClr val="0F766E"/>
                </a:solidFill>
                <a:latin typeface="Aptos"/>
              </a:rPr>
              <a:t>STABILIZE LATIN AMERICA:</a:t>
            </a:r>
            <a:r>
              <a:rPr sz="1500" dirty="0">
                <a:solidFill>
                  <a:srgbClr val="374151"/>
                </a:solidFill>
                <a:latin typeface="Aptos"/>
              </a:rPr>
              <a:t> </a:t>
            </a:r>
            <a:r>
              <a:rPr sz="1500" dirty="0">
                <a:solidFill>
                  <a:schemeClr val="bg1"/>
                </a:solidFill>
                <a:latin typeface="Aptos"/>
              </a:rPr>
              <a:t>Address fulfillment, returns and support workload.</a:t>
            </a:r>
          </a:p>
          <a:p>
            <a:pPr>
              <a:spcAft>
                <a:spcPts val="1000"/>
              </a:spcAft>
            </a:pPr>
            <a:r>
              <a:rPr sz="1500" b="1" dirty="0">
                <a:solidFill>
                  <a:srgbClr val="0F766E"/>
                </a:solidFill>
                <a:latin typeface="Aptos"/>
              </a:rPr>
              <a:t>STRENGTHEN FRAUD CONTROLS:</a:t>
            </a:r>
            <a:r>
              <a:rPr sz="1500" dirty="0">
                <a:solidFill>
                  <a:srgbClr val="374151"/>
                </a:solidFill>
                <a:latin typeface="Aptos"/>
              </a:rPr>
              <a:t> </a:t>
            </a:r>
            <a:r>
              <a:rPr sz="1500" dirty="0">
                <a:solidFill>
                  <a:schemeClr val="bg1"/>
                </a:solidFill>
                <a:latin typeface="Aptos"/>
              </a:rPr>
              <a:t>Prioritize preventive transaction monitoring.</a:t>
            </a:r>
          </a:p>
          <a:p>
            <a:pPr>
              <a:spcAft>
                <a:spcPts val="1000"/>
              </a:spcAft>
            </a:pPr>
            <a:r>
              <a:rPr sz="1500" b="1" dirty="0">
                <a:solidFill>
                  <a:srgbClr val="0F766E"/>
                </a:solidFill>
                <a:latin typeface="Aptos"/>
              </a:rPr>
              <a:t>REPLICATE CX PRACTICES:</a:t>
            </a:r>
            <a:r>
              <a:rPr sz="1500" dirty="0">
                <a:solidFill>
                  <a:srgbClr val="374151"/>
                </a:solidFill>
                <a:latin typeface="Aptos"/>
              </a:rPr>
              <a:t> </a:t>
            </a:r>
            <a:r>
              <a:rPr sz="1500" dirty="0">
                <a:solidFill>
                  <a:schemeClr val="bg1"/>
                </a:solidFill>
                <a:latin typeface="Aptos"/>
              </a:rPr>
              <a:t>Apply APAC delivery practices in weaker markets.</a:t>
            </a:r>
          </a:p>
        </p:txBody>
      </p:sp>
      <p:sp>
        <p:nvSpPr>
          <p:cNvPr id="5" name="icon_5_label"/>
          <p:cNvSpPr txBox="1"/>
          <p:nvPr/>
        </p:nvSpPr>
        <p:spPr>
          <a:xfrm>
            <a:off x="7726680" y="1627632"/>
            <a:ext cx="1188720" cy="1133856"/>
          </a:xfrm>
          <a:prstGeom prst="rect">
            <a:avLst/>
          </a:prstGeom>
          <a:noFill/>
          <a:ln/>
        </p:spPr>
        <p:txBody>
          <a:bodyPr wrap="square" lIns="0" tIns="0" rIns="0" bIns="0" rtlCol="0" anchor="t"/>
          <a:lstStyle/>
          <a:p>
            <a:pPr marL="0" indent="0" algn="ctr">
              <a:buNone/>
            </a:pPr>
            <a:endParaRPr lang="en-US" sz="1300" dirty="0"/>
          </a:p>
        </p:txBody>
      </p:sp>
      <p:sp>
        <p:nvSpPr>
          <p:cNvPr id="6" name="closing_statement"/>
          <p:cNvSpPr txBox="1"/>
          <p:nvPr/>
        </p:nvSpPr>
        <p:spPr>
          <a:xfrm>
            <a:off x="548640" y="5897880"/>
            <a:ext cx="9235440" cy="457200"/>
          </a:xfrm>
          <a:prstGeom prst="rect">
            <a:avLst/>
          </a:prstGeom>
          <a:noFill/>
          <a:ln/>
        </p:spPr>
        <p:txBody>
          <a:bodyPr wrap="square" lIns="0" tIns="0" rIns="0" bIns="0" rtlCol="0" anchor="t"/>
          <a:lstStyle/>
          <a:p>
            <a:pPr marL="0" indent="0" algn="ctr">
              <a:buNone/>
            </a:pPr>
            <a:r>
              <a:rPr sz="1800" b="1">
                <a:solidFill>
                  <a:srgbClr val="0F766E"/>
                </a:solidFill>
                <a:latin typeface="Aptos"/>
              </a:rPr>
              <a:t>Protect APAC's growth while making Latin America's recovery the immediate leadership priority.</a:t>
            </a:r>
            <a:endParaRPr lang="en-US" sz="1400" dirty="0"/>
          </a:p>
        </p:txBody>
      </p:sp>
      <p:sp>
        <p:nvSpPr>
          <p:cNvPr id="7" name="footer_5"/>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50" dirty="0">
                <a:solidFill>
                  <a:srgbClr val="9FB3E8"/>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8" name="page_num_5"/>
          <p:cNvSpPr txBox="1"/>
          <p:nvPr/>
        </p:nvSpPr>
        <p:spPr>
          <a:xfrm>
            <a:off x="11274552" y="6510528"/>
            <a:ext cx="365760" cy="274320"/>
          </a:xfrm>
          <a:prstGeom prst="rect">
            <a:avLst/>
          </a:prstGeom>
          <a:noFill/>
          <a:ln/>
        </p:spPr>
        <p:txBody>
          <a:bodyPr wrap="square" lIns="0" tIns="0" rIns="0" bIns="0" rtlCol="0" anchor="ctr"/>
          <a:lstStyle/>
          <a:p>
            <a:pPr marL="0" indent="0" algn="r">
              <a:buNone/>
            </a:pPr>
            <a:r>
              <a:rPr lang="en-US" sz="950" dirty="0">
                <a:solidFill>
                  <a:srgbClr val="9FB3E8"/>
                </a:solidFill>
                <a:latin typeface="Calibri" pitchFamily="34" charset="0"/>
                <a:ea typeface="Calibri" pitchFamily="34" charset="-122"/>
                <a:cs typeface="Calibri" pitchFamily="34" charset="-120"/>
              </a:rPr>
              <a:t>5</a:t>
            </a:r>
            <a:endParaRPr lang="en-US" sz="950" dirty="0"/>
          </a:p>
        </p:txBody>
      </p:sp>
      <p:pic>
        <p:nvPicPr>
          <p:cNvPr id="9" name="Picture 8" descr="lightbulb_action.png"/>
          <p:cNvPicPr>
            <a:picLocks noChangeAspect="1"/>
          </p:cNvPicPr>
          <p:nvPr/>
        </p:nvPicPr>
        <p:blipFill>
          <a:blip r:embed="rId3"/>
          <a:stretch>
            <a:fillRect/>
          </a:stretch>
        </p:blipFill>
        <p:spPr>
          <a:xfrm>
            <a:off x="7589520" y="1463040"/>
            <a:ext cx="1463040" cy="1463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7f6b194-73f8-48d3-95d2-0d2530a9bb45}" enabled="1" method="Standard" siteId="{0483ae51-a627-466e-a7dd-de2ac7e1238e}" contentBits="2" removed="0"/>
</clbl:labelList>
</file>

<file path=docProps/app.xml><?xml version="1.0" encoding="utf-8"?>
<Properties xmlns="http://schemas.openxmlformats.org/officeDocument/2006/extended-properties" xmlns:vt="http://schemas.openxmlformats.org/officeDocument/2006/docPropsVTypes">
  <TotalTime>0</TotalTime>
  <Words>356</Words>
  <Application>Microsoft Office PowerPoint</Application>
  <PresentationFormat>Widescreen</PresentationFormat>
  <Paragraphs>49</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Surbhi Nayar</cp:lastModifiedBy>
  <cp:revision>1</cp:revision>
  <dcterms:created xsi:type="dcterms:W3CDTF">2026-10-05T14:35:45Z</dcterms:created>
  <dcterms:modified xsi:type="dcterms:W3CDTF">2026-10-15T10:46:23Z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Sensitivity: Internal</vt:lpwstr>
  </property>
</Properties>
</file>